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Oggi</c:v>
                </c:pt>
              </c:strCache>
            </c:strRef>
          </c:tx>
          <c:spPr>
            <a:solidFill>
              <a:srgbClr val="3092D0"/>
            </a:solidFill>
            <a:ln w="25400" cap="flat">
              <a:solidFill>
                <a:srgbClr val="3092D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3092D0"/>
              </a:solidFill>
              <a:ln w="9525" cap="flat">
                <a:solidFill>
                  <a:srgbClr val="3092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Strategia e sponsorship</c:v>
                  </c:pt>
                  <c:pt idx="1">
                    <c:v>Processi</c:v>
                  </c:pt>
                  <c:pt idx="2">
                    <c:v>Dati e integrazioni</c:v>
                  </c:pt>
                  <c:pt idx="3">
                    <c:v>Competenze</c:v>
                  </c:pt>
                  <c:pt idx="4">
                    <c:v>Governance e rischio</c:v>
                  </c:pt>
                  <c:pt idx="5">
                    <c:v>Misurazione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5E4F9C"/>
            </a:solidFill>
            <a:ln w="25400" cap="flat">
              <a:solidFill>
                <a:srgbClr val="5E4F9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5E4F9C"/>
              </a:solidFill>
              <a:ln w="9525" cap="flat">
                <a:solidFill>
                  <a:srgbClr val="5E4F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Strategia e sponsorship</c:v>
                  </c:pt>
                  <c:pt idx="1">
                    <c:v>Processi</c:v>
                  </c:pt>
                  <c:pt idx="2">
                    <c:v>Dati e integrazioni</c:v>
                  </c:pt>
                  <c:pt idx="3">
                    <c:v>Competenze</c:v>
                  </c:pt>
                  <c:pt idx="4">
                    <c:v>Governance e rischio</c:v>
                  </c:pt>
                  <c:pt idx="5">
                    <c:v>Misurazione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B4D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Processi</c:v>
                </c:pt>
              </c:strCache>
            </c:strRef>
          </c:tx>
          <c:spPr>
            <a:solidFill>
              <a:srgbClr val="5E4F9C"/>
            </a:solidFill>
            <a:ln>
              <a:noFill/>
            </a:ln>
            <a:effectLst/>
          </c:spPr>
          <c:marker>
            <c:symbol val="circle"/>
            <c:size val="14"/>
            <c:spPr>
              <a:solidFill>
                <a:srgbClr val="5E4F9C"/>
              </a:solidFill>
              <a:ln w="9525" cap="flat">
                <a:solidFill>
                  <a:srgbClr val="5E4F9C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Processo 1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13-86bc-a4d4-7f24f1f6e5d9}"/>
                </c:ext>
              </c:extLst>
            </c:dLbl>
            <c:dLbl>
              <c:idx val="1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Processo 2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13-86bc-a4d4-7f24f1f6e5d9}"/>
                </c:ext>
              </c:extLst>
            </c:dLbl>
            <c:dLbl>
              <c:idx val="2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Processo 3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13-86bc-a4d4-7f24f1f6e5d9}"/>
                </c:ext>
              </c:extLst>
            </c:dLbl>
            <c:dLbl>
              <c:idx val="3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Processo 4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f13-86bc-a4d4-7f24f1f6e5d9}"/>
                </c:ext>
              </c:extLst>
            </c:dLbl>
            <c:dLbl>
              <c:idx val="4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Processo 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13-86bc-a4d4-7f24f1f6e5d9}"/>
                </c:ext>
              </c:extLst>
            </c:dLbl>
          </c:dLbls>
          <c:xVal>
            <c:numRef>
              <c:f>Sheet1!$A$2:$A$6</c:f>
              <c:numCache>
                <c:formatCode>General</c:formatCode>
                <c:ptCount val="5"/>
                <c:pt idx="0">
                  <c:v>4.2</c:v>
                </c:pt>
                <c:pt idx="1">
                  <c:v>3.6</c:v>
                </c:pt>
                <c:pt idx="2">
                  <c:v>2.4</c:v>
                </c:pt>
                <c:pt idx="3">
                  <c:v>4</c:v>
                </c:pt>
                <c:pt idx="4">
                  <c:v>2.1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3.2</c:v>
                </c:pt>
                <c:pt idx="2">
                  <c:v>3.8</c:v>
                </c:pt>
                <c:pt idx="3">
                  <c:v>2.5</c:v>
                </c:pt>
                <c:pt idx="4">
                  <c:v>2.2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4B4D57"/>
                  </a:solidFill>
                  <a:latin typeface="Arial"/>
                </a:defRPr>
              </a:pPr>
            </a:p>
          </c:txPr>
          <c:dLblPos val="r"/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"/>
          <c:min val="1"/>
        </c:scaling>
        <c:delete val="0"/>
        <c:axPos val="b"/>
        <c:majorGridlines>
          <c:spPr>
            <a:ln w="6350" cap="flat">
              <a:solidFill>
                <a:srgbClr val="DEDC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Fattibilità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385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6350" cap="flat">
              <a:solidFill>
                <a:srgbClr val="DEDC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Valore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385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del Report di Discovery, generato da Argos a partire da canvas, readiness e scoring. Sostituire tutti i campi tra parentesi quadre. Versione direzione: 12 slide; per la versione operativa aggiungere un canvas per processo in appendice.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Aprire con la decisione richiesta. Il resto del deck la giustifica.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Sottolineare la co-creazione: i numeri che seguono sono loro.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Ripetere gli obiettivi con le parole della direzione, non con le nostre.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radar rende visibile la distanza; la tabella spiega da cosa dipende.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entrare nei dettagli dei singoli canvas in sessione direzionale.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un sistema è raggiungibile solo dall'interfaccia utente, dirlo qui e dichiarare il fallback come 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grafico mostra perché il Quick Win è dove è. I 'progetti strategici' non sono scartati: entrano in roadmap con lavoro preparatorio.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to-be lo ha disegnato il process owner nella sessione di redesign: citarlo per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promettere numeri: la baseline è misura, l'obiettivo è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date sono indicative fino alla firma dell'offerta.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Chiudere sulle tre decisioni. Se una manca, fissare la data in cui verrà 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51760"/>
            <a:ext cx="2926080" cy="1234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846320" y="1737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C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DI DISCOVERY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846320" y="214884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[Cliente]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3703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Ciò che abbiamo trovato insieme: processi, maturità, portafoglio delle opportunità e il punto di partenza scelto.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7607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[Data] · Fase 1 · Gate G1 · Hevolus SRL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86868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6291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Framework · Hevolus SRL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37215" y="6291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una pagina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tre cose da portare a casa da questa restituzione.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484778" cy="292608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1168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siamo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450592"/>
            <a:ext cx="302757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[Stadio di maturità attuale e due frasi su cosa lo determina: sistemi, dati, competenze.]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53458" y="1828800"/>
            <a:ext cx="3484778" cy="292608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82058" y="201168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abbiamo trovato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82058" y="2450592"/>
            <a:ext cx="302757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processi mappati, n candidati in banda Quick Win, n progetti strategici. Il tema ricorrente emerso dai process owner.]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66837" y="1828800"/>
            <a:ext cx="3484778" cy="2926080"/>
          </a:xfrm>
          <a:prstGeom prst="rect">
            <a:avLst/>
          </a:prstGeom>
          <a:solidFill>
            <a:srgbClr val="5E4F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95437" y="201168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dove partiamo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95437" y="2450592"/>
            <a:ext cx="302757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[Il Quick Win scelto, perché, in quante settimane, con quale baseline.]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[Decisione richiesta oggi: conferma del Quick Win e dell'offerta.]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86868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6291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Framework · Hevolus SRL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37215" y="6291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abbiamo lavorato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binari, artefatti compilati da chi conosce i processi.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1463040"/>
                <a:gridCol w="3227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Partecipanti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Strategica 1 · obiettivi e vincoli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[sponsor, direzione]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[gg/mm]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dei processi candidati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Operative · una per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 owner e utenti chiave]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[gg/mm]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 as-is compilati dai partecipanti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 dati e integrazioni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[referente IT]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[gg/mm]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per 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Strategica 2 · maturità 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[sponsor, direzione]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[gg/mm]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di maturità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 congiunto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 owner, sponsor]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[gg/mm]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Matrice Valore × Fattibilità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XRCopilot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 owner del candidato]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[gg/mm]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 skill provata su un caso proprio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canvas e i punteggi sono stati compilati dai partecipanti; Hevolus ha facilitato. Le persone che li hanno prodotti sono i riferimenti per le fasi successive.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86868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6291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Framework · Hevolus SRL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37215" y="6291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obiettivi espressi dalla direzione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Quello che il programma deve servire, con le parole emerse in sessione strategica.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484778" cy="210312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1168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[Obiettivo 1]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450592"/>
            <a:ext cx="3027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[Es. visibilità aggregata sull'andamento delle commesse, oggi ricostruita a mano da tre sistemi.]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53458" y="1828800"/>
            <a:ext cx="3484778" cy="210312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82058" y="201168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[Obiettivo 2]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82058" y="2450592"/>
            <a:ext cx="3027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[Es. capacità predittiva sugli scostamenti, per intervenire prima e non dopo.]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66837" y="1828800"/>
            <a:ext cx="3484778" cy="210312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95437" y="201168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[Obiettivo 3]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95437" y="2450592"/>
            <a:ext cx="3027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[Es. liberare tempo delle persone di area dalle attività di raccolta e consolidamento.]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 e condizioni dichiarati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6177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[Es. nessuna sostituzione del gestionale nei prossimi 24 mesi]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[Es. dati contrattuali riservati: perimetro chiuso]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[Es. finestra operativa: nessun avvio in periodo di chiusura contabile]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86868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6291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Framework · Hevolus SRL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37215" y="6291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siamo: assessment di maturità agentica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[Stadio attuale: Tradizionale / Ibrida · Stadio target a 18–24 mesi: Ibrida / Agentica nativa]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0058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Oggi (1–5)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lo determina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Strategia e sponsorship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[una riga]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[una riga]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Dati e integrazioni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[una riga]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[una riga]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e rischio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[una riga]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Misurazione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[una riga]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7863840" y="1737360"/>
          <a:ext cx="3749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di esempio nel grafico: sostituire con i punteggi assegnati in sessione strategica.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86868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6291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Framework · Hevolus SRL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37215" y="6291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processi mappati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processi in n aree, mappati da chi li esegue.]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188720"/>
                <a:gridCol w="1280160"/>
                <a:gridCol w="2377440"/>
                <a:gridCol w="1645920"/>
                <a:gridCol w="1124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per caso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Lavoro ripetitivo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nativo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[Processo 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[area]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[n/mese]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[dove si concentra]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[sistemi]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[nativo / ibrido / custom]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[Processo 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[area]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[n/mese]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[Processo 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[area]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[n/mese]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[Processo 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[area]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[n/mese]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[Processo 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[area]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[n/mese]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canvas completo di ogni processo è nell'appendice della versione operativa e nell'orchestratore.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86868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6291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Framework · Hevolus SRL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37215" y="6291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e integrazioni: cosa è pronto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L'attività che decide la fattibilità reale. Un sistema per riga.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645920"/>
                <a:gridCol w="1463040"/>
                <a:gridCol w="2651760"/>
                <a:gridCol w="1764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Qualità dei dati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 di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di integrazione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[Sistema A]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[API / DB / UI]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[alta/media/bassa]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[sì/no]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[API · webhook · lettura · export · browser]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[pronto / con lavoro preparatorio / non pronto]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[Sistema B]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[Sistema C]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3931920"/>
            <a:ext cx="5341468" cy="146304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4114800"/>
            <a:ext cx="488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dati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553712"/>
            <a:ext cx="48842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[Standard PostgreSQL, oppure eccezione motivata: es. Microsoft Fabric perché la reportistica di processo vive già in Power BI.]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10148" y="3931920"/>
            <a:ext cx="5341468" cy="146304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38748" y="4114800"/>
            <a:ext cx="488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 preparatorio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38748" y="4553712"/>
            <a:ext cx="48842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[Cosa serve prima del Build: es. accesso in lettura al database, pulizia dei campi liberi, ambiente di test.]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86868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6291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Framework · Hevolus SRL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37215" y="6291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portafoglio delle opportunità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 assegnati dai process owner. Valore 60%, Fattibilità 40%.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73736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828800"/>
          <a:ext cx="4233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868680"/>
                <a:gridCol w="1170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Fattibilità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[Processo 1]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[4,3]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[4,2]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[Processo 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[Processo 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[3,8]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Progetto strategico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[Processo 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[4,0]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Miglioramento incrementale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[Processo 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[2,1]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rivalutare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di esempio: sostituire con i punteggi della sessione di scoring. Soglia delle bande: 3,0 su entrambi gli assi.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86868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6291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Framework · Hevolus SRL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37215" y="6291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[Il Quick Win: nome del processo]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[Perché questo: in banda Quick Win, dati pronti con lavoro preparatorio limitato, process owner disponibile come champion, perimetro chiudibile in n settimane.]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486400" cy="374904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 (as-is)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5603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[Chi fa cosa, con quali sistemi]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[Dove si concentra il lavoro ripetitivo]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[Quali dati mancano o vanno ricostruiti a mano]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[Eccezioni principali]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0" y="1920240"/>
            <a:ext cx="5148072" cy="3749040"/>
          </a:xfrm>
          <a:prstGeom prst="rect">
            <a:avLst/>
          </a:prstGeom>
          <a:solidFill>
            <a:srgbClr val="5E4F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l'agente (to-be, Co-pilot)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25603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[Cosa raccoglie e consolida l'agente]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[Cosa propone e chi decide]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[Quali passaggi manuali spariscono]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[Cosa resta alle persone: giudizio, eccezioni, relazione]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86868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6291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Framework · Hevolus SRL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37215" y="6291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baseline: da dove misuriamo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misurati con il process owner. Sono il riferimento del gate G2 e di ogni report trimestrale.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246888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attuale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Obiettivo a fine Quick Win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Obiettivo a 6 mesi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9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per caso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[rilevazione]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al mese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[sistema]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Tasso di rilavorazione o errore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[campione]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di attraversamento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[giorni]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[sistema]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[giorni]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[giorni]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 liberate (stima di scenario)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[h/mese]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4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[h/mese]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stime di beneficio sono stime di scenario costruite sulla baseline, non risultati certificati: il valore effettivo sarà misurato in esercizio.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86868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6291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Framework · Hevolus SRL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37215" y="6291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roadmap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[Quick Win in n settimane; poi i progetti strategici in ordine di readiness.]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2556434" cy="265176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5E4F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97480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04495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[settimane 1–10]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337560"/>
            <a:ext cx="209923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[Processo scelto. Frame ed Evaluate, Build e Iterate, Pilot in Co-pilot, gate G2 con valore misurato.]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25114" y="1874520"/>
            <a:ext cx="2556434" cy="265176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3714" y="2103120"/>
            <a:ext cx="457200" cy="457200"/>
          </a:xfrm>
          <a:prstGeom prst="ellipse">
            <a:avLst/>
          </a:prstGeom>
          <a:solidFill>
            <a:srgbClr val="5E4F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5371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653714" y="2697480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[Progetto strategico 1]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653714" y="304495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 settimana 8]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653714" y="3337560"/>
            <a:ext cx="209923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[Lavoro preparatorio sui dati in parallelo al Pilot; Frame all'avvio del Q successivo. Taglia M/L.]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0148" y="1874520"/>
            <a:ext cx="2556434" cy="265176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38748" y="2103120"/>
            <a:ext cx="457200" cy="457200"/>
          </a:xfrm>
          <a:prstGeom prst="ellipse">
            <a:avLst/>
          </a:prstGeom>
          <a:solidFill>
            <a:srgbClr val="5E4F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3874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38748" y="2697480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[Progetto strategico 2]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38748" y="304495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[Q+2]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38748" y="3337560"/>
            <a:ext cx="209923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[Dipende da: integrazione con sistema X, champion di area.]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995181" y="1874520"/>
            <a:ext cx="2556434" cy="265176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23781" y="2103120"/>
            <a:ext cx="457200" cy="457200"/>
          </a:xfrm>
          <a:prstGeom prst="ellipse">
            <a:avLst/>
          </a:prstGeom>
          <a:solidFill>
            <a:srgbClr val="5E4F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23781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223781" y="2697480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e handover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223781" y="304495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 Q+2]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223781" y="3337560"/>
            <a:ext cx="209923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gate sul primo agente; responsabile interno formato; misurazione trimestrale.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4754880"/>
            <a:ext cx="10911535" cy="1051560"/>
          </a:xfrm>
          <a:prstGeom prst="rect">
            <a:avLst/>
          </a:prstGeom>
          <a:solidFill>
            <a:srgbClr val="F3F2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68680" y="4937760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serve dal cliente nelle prossime due settimane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68680" y="537667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[Conferma del Quick Win e dell'offerta · nomina del champion e del responsabile interno · accessi in ambiente di test · 20–50 casi reali per l'eval set]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E4F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 di oggi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 Confermare il Quick Win: nome del processo.]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[2. Approvare l'offerta D3: investimento e durata.]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[3. Nominare champion e responsabile interno degli agenti.]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queste tre decisioni si supera il gate G1 e il Quick Win parte.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25535" y="5669280"/>
            <a:ext cx="2926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/home/claude/atlas/hevol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8415" y="5760720"/>
            <a:ext cx="173736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Hevolus SRL</dc:creator>
  <cp:lastModifiedBy>Hevolus SRL</cp:lastModifiedBy>
  <cp:revision>1</cp:revision>
  <dcterms:created xsi:type="dcterms:W3CDTF">2026-09-04T21:39:17Z</dcterms:created>
  <dcterms:modified xsi:type="dcterms:W3CDTF">2026-09-04T21:39:17Z</dcterms:modified>
</cp:coreProperties>
</file>